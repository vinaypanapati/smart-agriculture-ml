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6"/>
  </p:notesMasterIdLst>
  <p:sldIdLst>
    <p:sldId id="256" r:id="rId2"/>
    <p:sldId id="287" r:id="rId3"/>
    <p:sldId id="263" r:id="rId4"/>
    <p:sldId id="324" r:id="rId5"/>
    <p:sldId id="288" r:id="rId6"/>
    <p:sldId id="329" r:id="rId7"/>
    <p:sldId id="257" r:id="rId8"/>
    <p:sldId id="327" r:id="rId9"/>
    <p:sldId id="259" r:id="rId10"/>
    <p:sldId id="328" r:id="rId11"/>
    <p:sldId id="326" r:id="rId12"/>
    <p:sldId id="298" r:id="rId13"/>
    <p:sldId id="322" r:id="rId14"/>
    <p:sldId id="264"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8" d="100"/>
          <a:sy n="78" d="100"/>
        </p:scale>
        <p:origin x="1594"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DD2C205-E51B-4F20-BCD3-0580691C802A}" type="datetimeFigureOut">
              <a:rPr lang="en-US" smtClean="0"/>
              <a:t>1/17/2025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63B5FD-0344-414D-BED8-1C06BE733A0E}"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BAEBE9C-BB33-49EA-8A4F-DE1BB95DC978}" type="datetime1">
              <a:rPr lang="en-US" smtClean="0"/>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478AB7C-A59F-4E19-97C4-632E957B8357}"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71F289-D7E1-4353-9CFE-40EF518B718D}" type="datetime1">
              <a:rPr lang="en-US" smtClean="0"/>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478AB7C-A59F-4E19-97C4-632E957B8357}"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E58750-C319-41F7-A71B-52FB3C3704E2}" type="datetime1">
              <a:rPr lang="en-US" smtClean="0"/>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478AB7C-A59F-4E19-97C4-632E957B8357}"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207D671-E957-4F94-BA5F-5513F083B1BD}" type="datetime1">
              <a:rPr lang="en-US" smtClean="0"/>
              <a:t>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478AB7C-A59F-4E19-97C4-632E957B8357}"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2A71F50-0D37-4D61-B559-8FCC3CA2956A}" type="datetime1">
              <a:rPr lang="en-US" smtClean="0"/>
              <a:t>1/17/2025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478AB7C-A59F-4E19-97C4-632E957B8357}"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BDD57AE-1319-4BB0-8566-4637B158E85B}" type="datetime1">
              <a:rPr lang="en-US" smtClean="0"/>
              <a:t>1/17/2025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478AB7C-A59F-4E19-97C4-632E957B8357}"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9A4B1F-7CFF-4E4A-B0CE-F81BD08EA8BD}" type="datetime1">
              <a:rPr lang="en-US" smtClean="0"/>
              <a:t>1/17/2025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478AB7C-A59F-4E19-97C4-632E957B8357}"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EC1BF5-A026-4AD7-8E81-45632D4564C8}" type="datetime1">
              <a:rPr lang="en-US" smtClean="0"/>
              <a:t>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478AB7C-A59F-4E19-97C4-632E957B8357}"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5DC282-71FA-4EDA-94F8-48A5CEB0C975}" type="datetime1">
              <a:rPr lang="en-US" smtClean="0"/>
              <a:t>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478AB7C-A59F-4E19-97C4-632E957B8357}"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D1DFBC-DADA-4DFA-8D91-AC04B5EE6E90}" type="datetime1">
              <a:rPr lang="en-US" smtClean="0"/>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478AB7C-A59F-4E19-97C4-632E957B8357}"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3F1B4A-86B3-4E08-9870-2DC633F43891}" type="datetime1">
              <a:rPr lang="en-US" smtClean="0"/>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478AB7C-A59F-4E19-97C4-632E957B8357}"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18E38D-5CAC-4AD0-8993-A9A435ACCD69}" type="datetime1">
              <a:rPr lang="en-US" smtClean="0"/>
              <a:t>1/17/2025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78AB7C-A59F-4E19-97C4-632E957B8357}"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142852"/>
            <a:ext cx="8643998" cy="6429420"/>
          </a:xfrm>
        </p:spPr>
        <p:txBody>
          <a:bodyPr>
            <a:normAutofit fontScale="90000"/>
          </a:bodyPr>
          <a:lstStyle/>
          <a:p>
            <a:br>
              <a:rPr lang="en-IN" sz="2400" b="1" dirty="0">
                <a:solidFill>
                  <a:schemeClr val="tx2">
                    <a:lumMod val="50000"/>
                  </a:schemeClr>
                </a:solidFill>
                <a:latin typeface="Times New Roman" panose="02020603050405020304" pitchFamily="18" charset="0"/>
                <a:cs typeface="Times New Roman" panose="02020603050405020304" pitchFamily="18" charset="0"/>
              </a:rPr>
            </a:br>
            <a:br>
              <a:rPr lang="en-IN" sz="3600" b="1" dirty="0">
                <a:solidFill>
                  <a:schemeClr val="tx2">
                    <a:lumMod val="50000"/>
                  </a:schemeClr>
                </a:solidFill>
                <a:latin typeface="Times New Roman" panose="02020603050405020304" pitchFamily="18" charset="0"/>
                <a:cs typeface="Times New Roman" panose="02020603050405020304" pitchFamily="18" charset="0"/>
              </a:rPr>
            </a:br>
            <a:r>
              <a:rPr lang="en-US" sz="2700" b="1" dirty="0">
                <a:solidFill>
                  <a:srgbClr val="000000"/>
                </a:solidFill>
                <a:effectLst/>
                <a:latin typeface="Times New Roman" panose="02020603050405020304" pitchFamily="18" charset="0"/>
                <a:ea typeface="Times New Roman" panose="02020603050405020304" pitchFamily="18" charset="0"/>
              </a:rPr>
              <a:t>SMART AGRICULTURE: PREDICTING SOIL TYPE AND IRRIGATION METHODS WITH MACHINE LEARNING</a:t>
            </a:r>
            <a:br>
              <a:rPr lang="en-IN" sz="2200" b="1" dirty="0">
                <a:solidFill>
                  <a:schemeClr val="tx2">
                    <a:lumMod val="50000"/>
                  </a:schemeClr>
                </a:solidFill>
                <a:latin typeface="Times New Roman" panose="02020603050405020304" pitchFamily="18" charset="0"/>
                <a:cs typeface="Times New Roman" panose="02020603050405020304" pitchFamily="18" charset="0"/>
              </a:rPr>
            </a:br>
            <a:br>
              <a:rPr lang="en-IN" sz="2200" b="1" dirty="0">
                <a:solidFill>
                  <a:schemeClr val="tx2">
                    <a:lumMod val="50000"/>
                  </a:schemeClr>
                </a:solidFill>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BATCH No : 07</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UNDER THE ESTEEMED GUIDANCE OF</a:t>
            </a:r>
            <a:br>
              <a:rPr lang="en-IN" sz="2000" b="1" dirty="0">
                <a:latin typeface="Times New Roman" panose="02020603050405020304" pitchFamily="18" charset="0"/>
                <a:cs typeface="Times New Roman" panose="02020603050405020304" pitchFamily="18" charset="0"/>
              </a:rPr>
            </a:br>
            <a:r>
              <a:rPr lang="en-US" sz="2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Ms. P. </a:t>
            </a:r>
            <a:r>
              <a:rPr lang="en-US" sz="2200" b="1"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VASANTHA KUMARI</a:t>
            </a:r>
            <a:br>
              <a:rPr lang="en-US" sz="2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200" b="1" dirty="0">
                <a:latin typeface="Times New Roman" panose="02020603050405020304" pitchFamily="18" charset="0"/>
                <a:cs typeface="Times New Roman" panose="02020603050405020304" pitchFamily="18" charset="0"/>
              </a:rPr>
              <a:t>DEPARTMENT OF COMPUTER SCIENCE AND ENGINEERING</a:t>
            </a: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SRI VENKATESWARA ENGINEERING COLLEGE FOR WOMEN</a:t>
            </a:r>
            <a:br>
              <a:rPr lang="en-US" sz="22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Karakambadi Road, Opp. LIC Training Center,</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Tirupati-517507</a:t>
            </a:r>
            <a:br>
              <a:rPr lang="en-US" sz="2000" dirty="0">
                <a:latin typeface="Times New Roman" panose="02020603050405020304" pitchFamily="18" charset="0"/>
                <a:cs typeface="Times New Roman" panose="02020603050405020304" pitchFamily="18" charset="0"/>
              </a:rPr>
            </a:br>
            <a:br>
              <a:rPr lang="en-IN" sz="2000" dirty="0">
                <a:solidFill>
                  <a:schemeClr val="tx2">
                    <a:lumMod val="50000"/>
                  </a:schemeClr>
                </a:solidFill>
                <a:latin typeface="Times New Roman" panose="02020603050405020304" pitchFamily="18" charset="0"/>
                <a:cs typeface="Times New Roman" panose="02020603050405020304" pitchFamily="18" charset="0"/>
              </a:rPr>
            </a:br>
            <a:br>
              <a:rPr lang="en-IN" sz="2000" dirty="0">
                <a:solidFill>
                  <a:schemeClr val="tx2">
                    <a:lumMod val="50000"/>
                  </a:schemeClr>
                </a:solidFill>
                <a:latin typeface="Times New Roman" panose="02020603050405020304" pitchFamily="18" charset="0"/>
                <a:cs typeface="Times New Roman" panose="02020603050405020304" pitchFamily="18" charset="0"/>
              </a:rPr>
            </a:br>
            <a:endParaRPr lang="en-US" sz="2000" dirty="0">
              <a:solidFill>
                <a:schemeClr val="tx2">
                  <a:lumMod val="50000"/>
                </a:schemeClr>
              </a:solidFill>
              <a:latin typeface="Times New Roman" panose="02020603050405020304" pitchFamily="18" charset="0"/>
              <a:cs typeface="Times New Roman" panose="02020603050405020304" pitchFamily="18" charset="0"/>
            </a:endParaRPr>
          </a:p>
        </p:txBody>
      </p:sp>
      <p:pic>
        <p:nvPicPr>
          <p:cNvPr id="4" name="Picture 2" descr="C:\Users\User\Desktop\svew logo.png"/>
          <p:cNvPicPr>
            <a:picLocks noChangeAspect="1" noChangeArrowheads="1"/>
          </p:cNvPicPr>
          <p:nvPr/>
        </p:nvPicPr>
        <p:blipFill>
          <a:blip r:embed="rId2"/>
          <a:srcRect/>
          <a:stretch>
            <a:fillRect/>
          </a:stretch>
        </p:blipFill>
        <p:spPr bwMode="auto">
          <a:xfrm>
            <a:off x="3851920" y="3983597"/>
            <a:ext cx="1214414" cy="1142438"/>
          </a:xfrm>
          <a:prstGeom prst="rect">
            <a:avLst/>
          </a:prstGeom>
          <a:noFill/>
        </p:spPr>
      </p:pic>
      <p:sp>
        <p:nvSpPr>
          <p:cNvPr id="3" name="TextBox 2">
            <a:extLst>
              <a:ext uri="{FF2B5EF4-FFF2-40B4-BE49-F238E27FC236}">
                <a16:creationId xmlns:a16="http://schemas.microsoft.com/office/drawing/2014/main" id="{D502D8DF-5EE9-6E17-AD4A-0BE096BD62CD}"/>
              </a:ext>
            </a:extLst>
          </p:cNvPr>
          <p:cNvSpPr txBox="1"/>
          <p:nvPr/>
        </p:nvSpPr>
        <p:spPr>
          <a:xfrm>
            <a:off x="2699792" y="1369659"/>
            <a:ext cx="4248472" cy="1477328"/>
          </a:xfrm>
          <a:prstGeom prst="rect">
            <a:avLst/>
          </a:prstGeom>
          <a:noFill/>
        </p:spPr>
        <p:txBody>
          <a:bodyPr wrap="square" rtlCol="0">
            <a:spAutoFit/>
          </a:bodyPr>
          <a:lstStyle/>
          <a:p>
            <a:r>
              <a:rPr lang="en-US"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N.VARSHA</a:t>
            </a:r>
            <a:r>
              <a:rPr lang="en-IN" b="1" dirty="0">
                <a:latin typeface="Times New Roman" panose="02020603050405020304" pitchFamily="18" charset="0"/>
                <a:cs typeface="Times New Roman" panose="02020603050405020304" pitchFamily="18" charset="0"/>
              </a:rPr>
              <a:t>	         (</a:t>
            </a:r>
            <a:r>
              <a:rPr lang="en-US"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219E1A05G2)</a:t>
            </a:r>
            <a:br>
              <a:rPr lang="en-IN" b="1" dirty="0">
                <a:latin typeface="Times New Roman" panose="02020603050405020304" pitchFamily="18" charset="0"/>
                <a:cs typeface="Times New Roman" panose="02020603050405020304" pitchFamily="18" charset="0"/>
              </a:rPr>
            </a:br>
            <a:r>
              <a:rPr lang="en-US" b="1" kern="0" dirty="0">
                <a:solidFill>
                  <a:srgbClr val="000000"/>
                </a:solidFill>
                <a:latin typeface="Times New Roman" panose="02020603050405020304" pitchFamily="18" charset="0"/>
                <a:cs typeface="Times New Roman" panose="02020603050405020304" pitchFamily="18" charset="0"/>
              </a:rPr>
              <a:t>P.VINAY         </a:t>
            </a:r>
            <a:r>
              <a:rPr lang="en-IN"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219E1A05H1)</a:t>
            </a:r>
            <a:br>
              <a:rPr lang="en-IN" b="1" dirty="0">
                <a:latin typeface="Times New Roman" panose="02020603050405020304" pitchFamily="18" charset="0"/>
                <a:cs typeface="Times New Roman" panose="02020603050405020304" pitchFamily="18" charset="0"/>
              </a:rPr>
            </a:br>
            <a:r>
              <a:rPr lang="en-US"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MANASA                    (</a:t>
            </a:r>
            <a:r>
              <a:rPr lang="en-US"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219E1A05H0)</a:t>
            </a:r>
            <a:br>
              <a:rPr lang="en-IN" b="1" dirty="0">
                <a:latin typeface="Times New Roman" panose="02020603050405020304" pitchFamily="18" charset="0"/>
                <a:cs typeface="Times New Roman" panose="02020603050405020304" pitchFamily="18" charset="0"/>
              </a:rPr>
            </a:br>
            <a:r>
              <a:rPr lang="en-US"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M.SHIVARAM              (219E1A05E2)</a:t>
            </a:r>
            <a:br>
              <a:rPr lang="en-IN"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42918"/>
            <a:ext cx="8229600" cy="5483245"/>
          </a:xfrm>
        </p:spPr>
        <p:txBody>
          <a:bodyPr/>
          <a:lstStyle/>
          <a:p>
            <a:pPr algn="ctr">
              <a:buNone/>
            </a:pPr>
            <a:endParaRPr lang="en-IN" dirty="0"/>
          </a:p>
          <a:p>
            <a:pPr algn="ctr">
              <a:buNone/>
            </a:pPr>
            <a:endParaRPr lang="en-IN" dirty="0"/>
          </a:p>
          <a:p>
            <a:pPr marL="0" indent="0" algn="ctr">
              <a:buNone/>
            </a:pPr>
            <a:r>
              <a:rPr lang="en-US" sz="4000" dirty="0">
                <a:solidFill>
                  <a:srgbClr val="000000"/>
                </a:solidFill>
                <a:effectLst/>
                <a:latin typeface="Times New Roman" panose="02020603050405020304" pitchFamily="18" charset="0"/>
                <a:ea typeface="Times New Roman" panose="02020603050405020304" pitchFamily="18" charset="0"/>
              </a:rPr>
              <a:t>SMART AGRICULTURE: PREDICTING SOIL TYPE AND IRRIGATION METHODS WITH MACHINE LEARNING</a:t>
            </a:r>
            <a:endParaRPr lang="en-IN" sz="40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478AB7C-A59F-4E19-97C4-632E957B8357}" type="slidenum">
              <a:rPr lang="en-US" smtClean="0"/>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CONTENTS</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IN" sz="2400" dirty="0">
                <a:latin typeface="Times New Roman" panose="02020603050405020304" pitchFamily="18" charset="0"/>
                <a:cs typeface="Times New Roman" panose="02020603050405020304" pitchFamily="18" charset="0"/>
              </a:rPr>
              <a:t>ABSTRACT</a:t>
            </a:r>
          </a:p>
          <a:p>
            <a:r>
              <a:rPr lang="en-IN" sz="2400" dirty="0">
                <a:latin typeface="Times New Roman" panose="02020603050405020304" pitchFamily="18" charset="0"/>
                <a:cs typeface="Times New Roman" panose="02020603050405020304" pitchFamily="18" charset="0"/>
              </a:rPr>
              <a:t>INTRODUCTION</a:t>
            </a:r>
          </a:p>
          <a:p>
            <a:r>
              <a:rPr lang="en-IN" sz="2400" dirty="0">
                <a:latin typeface="Times New Roman" panose="02020603050405020304" pitchFamily="18" charset="0"/>
                <a:cs typeface="Times New Roman" panose="02020603050405020304" pitchFamily="18" charset="0"/>
              </a:rPr>
              <a:t>EXISTING SYSTEM</a:t>
            </a:r>
          </a:p>
          <a:p>
            <a:r>
              <a:rPr lang="en-IN" sz="2400" dirty="0">
                <a:latin typeface="Times New Roman" panose="02020603050405020304" pitchFamily="18" charset="0"/>
                <a:cs typeface="Times New Roman" panose="02020603050405020304" pitchFamily="18" charset="0"/>
              </a:rPr>
              <a:t>DRAWBACKS OF EXISTING SYSTEM</a:t>
            </a:r>
          </a:p>
          <a:p>
            <a:r>
              <a:rPr lang="en-IN" sz="2400" dirty="0">
                <a:latin typeface="Times New Roman" panose="02020603050405020304" pitchFamily="18" charset="0"/>
                <a:cs typeface="Times New Roman" panose="02020603050405020304" pitchFamily="18" charset="0"/>
              </a:rPr>
              <a:t>PROPOSED SYSTEM</a:t>
            </a:r>
          </a:p>
          <a:p>
            <a:r>
              <a:rPr lang="en-IN" sz="2400" dirty="0">
                <a:latin typeface="Times New Roman" panose="02020603050405020304" pitchFamily="18" charset="0"/>
                <a:cs typeface="Times New Roman" panose="02020603050405020304" pitchFamily="18" charset="0"/>
              </a:rPr>
              <a:t>ADVANTAGES OF PROPOSED SYSTEM</a:t>
            </a:r>
          </a:p>
          <a:p>
            <a:r>
              <a:rPr lang="en-IN" sz="2400" dirty="0">
                <a:latin typeface="Times New Roman" panose="02020603050405020304" pitchFamily="18" charset="0"/>
                <a:cs typeface="Times New Roman" panose="02020603050405020304" pitchFamily="18" charset="0"/>
              </a:rPr>
              <a:t>ARCHITECTURE</a:t>
            </a:r>
          </a:p>
          <a:p>
            <a:r>
              <a:rPr lang="en-IN" sz="2400" dirty="0">
                <a:latin typeface="Times New Roman" panose="02020603050405020304" pitchFamily="18" charset="0"/>
                <a:cs typeface="Times New Roman" panose="02020603050405020304" pitchFamily="18" charset="0"/>
              </a:rPr>
              <a:t>CONCLUSION </a:t>
            </a:r>
          </a:p>
          <a:p>
            <a:r>
              <a:rPr lang="en-IN" sz="2400" dirty="0">
                <a:latin typeface="Times New Roman" panose="02020603050405020304" pitchFamily="18" charset="0"/>
                <a:cs typeface="Times New Roman" panose="02020603050405020304" pitchFamily="18" charset="0"/>
              </a:rPr>
              <a:t>FUTURE ENHANCEMENT</a:t>
            </a:r>
          </a:p>
          <a:p>
            <a:pPr>
              <a:buNone/>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478AB7C-A59F-4E19-97C4-632E957B8357}" type="slidenum">
              <a:rPr lang="en-US" smtClean="0"/>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15" y="136525"/>
            <a:ext cx="8229600" cy="634082"/>
          </a:xfrm>
        </p:spPr>
        <p:txBody>
          <a:bodyPr>
            <a:normAutofit/>
          </a:bodyPr>
          <a:lstStyle/>
          <a:p>
            <a:r>
              <a:rPr lang="en-IN" sz="2800" b="1" dirty="0">
                <a:latin typeface="Times New Roman" panose="02020603050405020304" pitchFamily="18" charset="0"/>
                <a:cs typeface="Times New Roman" panose="02020603050405020304" pitchFamily="18" charset="0"/>
              </a:rPr>
              <a:t>ABSTRACT</a:t>
            </a:r>
            <a:endParaRPr lang="en-US" sz="28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478AB7C-A59F-4E19-97C4-632E957B8357}" type="slidenum">
              <a:rPr lang="en-US" smtClean="0"/>
              <a:t>4</a:t>
            </a:fld>
            <a:endParaRPr lang="en-US" dirty="0"/>
          </a:p>
        </p:txBody>
      </p:sp>
      <p:sp>
        <p:nvSpPr>
          <p:cNvPr id="8" name="TextBox 7">
            <a:extLst>
              <a:ext uri="{FF2B5EF4-FFF2-40B4-BE49-F238E27FC236}">
                <a16:creationId xmlns:a16="http://schemas.microsoft.com/office/drawing/2014/main" id="{CA05DE7C-6C48-C9B7-8640-812BA515678D}"/>
              </a:ext>
            </a:extLst>
          </p:cNvPr>
          <p:cNvSpPr txBox="1"/>
          <p:nvPr/>
        </p:nvSpPr>
        <p:spPr>
          <a:xfrm>
            <a:off x="434684" y="770406"/>
            <a:ext cx="8460432" cy="5647700"/>
          </a:xfrm>
          <a:prstGeom prst="rect">
            <a:avLst/>
          </a:prstGeom>
          <a:noFill/>
        </p:spPr>
        <p:txBody>
          <a:bodyPr wrap="square">
            <a:spAutoFit/>
          </a:bodyPr>
          <a:lstStyle/>
          <a:p>
            <a:pPr algn="just"/>
            <a:r>
              <a:rPr lang="en-US" sz="2000" dirty="0">
                <a:effectLst/>
                <a:latin typeface="Times New Roman" panose="02020603050405020304" pitchFamily="18" charset="0"/>
                <a:ea typeface="Times New Roman" panose="02020603050405020304" pitchFamily="18" charset="0"/>
              </a:rPr>
              <a:t>This project focuses on using machine learning algorithms to predict soil types and optimize irrigation methods, based on key agricultural factors like Nitrogen (N), Phosphorus (P), Potassium (K) values, water availability, and crop type. Accurate predictions of soil composition and irrigation needs are crucial for efficient farming, as they help in resource optimization and sustainable crop production. The system employs advanced machine learning models, particularly Random Forest and </a:t>
            </a:r>
            <a:r>
              <a:rPr lang="en-US" sz="2000" dirty="0" err="1">
                <a:effectLst/>
                <a:latin typeface="Times New Roman" panose="02020603050405020304" pitchFamily="18" charset="0"/>
                <a:ea typeface="Times New Roman" panose="02020603050405020304" pitchFamily="18" charset="0"/>
              </a:rPr>
              <a:t>XGBoost</a:t>
            </a:r>
            <a:r>
              <a:rPr lang="en-US" sz="2000" dirty="0">
                <a:effectLst/>
                <a:latin typeface="Times New Roman" panose="02020603050405020304" pitchFamily="18" charset="0"/>
                <a:ea typeface="Times New Roman" panose="02020603050405020304" pitchFamily="18" charset="0"/>
              </a:rPr>
              <a:t>, to analyze input data and generate precise recommendations. Random Forest, with its ability to handle large datasets and provide feature importance, is utilized to predict soil type, while </a:t>
            </a:r>
            <a:r>
              <a:rPr lang="en-US" sz="2000" dirty="0" err="1">
                <a:effectLst/>
                <a:latin typeface="Times New Roman" panose="02020603050405020304" pitchFamily="18" charset="0"/>
                <a:ea typeface="Times New Roman" panose="02020603050405020304" pitchFamily="18" charset="0"/>
              </a:rPr>
              <a:t>XGBoost</a:t>
            </a:r>
            <a:r>
              <a:rPr lang="en-US" sz="2000" dirty="0">
                <a:effectLst/>
                <a:latin typeface="Times New Roman" panose="02020603050405020304" pitchFamily="18" charset="0"/>
                <a:ea typeface="Times New Roman" panose="02020603050405020304" pitchFamily="18" charset="0"/>
              </a:rPr>
              <a:t> is applied for irrigation method prediction, offering higher accuracy through boosting techniques. These algorithms enable the system to provide real-time, data-driven insights that assist farmers in making informed decisions about irrigation scheduling and soil management. The approach significantly reduces water waste, enhances crop yields, and minimizes environmental impact by ensuring efficient use of resources. By integrating predictive analytics into farming practices, the project fosters the implementation of precision agriculture, ultimately supporting sustainable farming practices and improving the overall agricultural ecosystem</a:t>
            </a:r>
            <a:r>
              <a:rPr lang="en-US" sz="2100" dirty="0">
                <a:effectLst/>
                <a:latin typeface="Times New Roman" panose="02020603050405020304" pitchFamily="18" charset="0"/>
                <a:ea typeface="Times New Roman" panose="02020603050405020304" pitchFamily="18" charset="0"/>
              </a:rPr>
              <a:t>.</a:t>
            </a:r>
            <a:endParaRPr lang="en-IN"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99392"/>
            <a:ext cx="8229600" cy="1143000"/>
          </a:xfrm>
        </p:spPr>
        <p:txBody>
          <a:bodyPr>
            <a:normAutofit/>
          </a:bodyPr>
          <a:lstStyle/>
          <a:p>
            <a:r>
              <a:rPr lang="en-IN" sz="2800" b="1" dirty="0">
                <a:latin typeface="Times New Roman" panose="02020603050405020304" pitchFamily="18" charset="0"/>
                <a:cs typeface="Times New Roman" panose="02020603050405020304" pitchFamily="18" charset="0"/>
              </a:rPr>
              <a:t>INTRODUCTION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9533" y="472108"/>
            <a:ext cx="8507288" cy="6165304"/>
          </a:xfrm>
        </p:spPr>
        <p:txBody>
          <a:bodyPr>
            <a:normAutofit/>
          </a:bodyPr>
          <a:lstStyle/>
          <a:p>
            <a:pPr algn="just"/>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Smart agriculture integrates technology and data-driven approaches to enhance farming efficiency and sustainability.</a:t>
            </a:r>
          </a:p>
          <a:p>
            <a:pPr algn="just"/>
            <a:r>
              <a:rPr lang="en-US" sz="2400" dirty="0">
                <a:latin typeface="Times New Roman" panose="02020603050405020304" pitchFamily="18" charset="0"/>
                <a:cs typeface="Times New Roman" panose="02020603050405020304" pitchFamily="18" charset="0"/>
              </a:rPr>
              <a:t>Identifying soil types and determining optimal irrigation methods are crucial for improving crop yield and conserving resources.</a:t>
            </a:r>
          </a:p>
          <a:p>
            <a:pPr algn="just"/>
            <a:r>
              <a:rPr lang="en-US" sz="2400" dirty="0">
                <a:latin typeface="Times New Roman" panose="02020603050405020304" pitchFamily="18" charset="0"/>
                <a:cs typeface="Times New Roman" panose="02020603050405020304" pitchFamily="18" charset="0"/>
              </a:rPr>
              <a:t>Machine learning plays a pivotal role in analyzing complex agricultural data and providing actionable insights for farmers.</a:t>
            </a:r>
          </a:p>
          <a:p>
            <a:pPr algn="just"/>
            <a:r>
              <a:rPr lang="en-US" sz="2400" dirty="0">
                <a:latin typeface="Times New Roman" panose="02020603050405020304" pitchFamily="18" charset="0"/>
                <a:cs typeface="Times New Roman" panose="02020603050405020304" pitchFamily="18" charset="0"/>
              </a:rPr>
              <a:t>Key agricultural factors such as Nitrogen (N), Phosphorus (P), Potassium (K) levels, water availability, and crop type significantly influence soil and irrigation requirements.</a:t>
            </a:r>
          </a:p>
          <a:p>
            <a:pPr algn="just"/>
            <a:r>
              <a:rPr lang="en-US" sz="2400" dirty="0">
                <a:latin typeface="Times New Roman" panose="02020603050405020304" pitchFamily="18" charset="0"/>
                <a:cs typeface="Times New Roman" panose="02020603050405020304" pitchFamily="18" charset="0"/>
              </a:rPr>
              <a:t>The project uses Random Forest and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algorithms, selected for their ability to deliver accurate and reliable predictions.</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478AB7C-A59F-4E19-97C4-632E957B8357}" type="slidenum">
              <a:rPr lang="en-US" smtClean="0"/>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C08E1-D3F9-E0F0-D204-BB8819ED9BD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F789E6-9C20-0454-5B2C-E8E554A6380F}"/>
              </a:ext>
            </a:extLst>
          </p:cNvPr>
          <p:cNvSpPr>
            <a:spLocks noGrp="1"/>
          </p:cNvSpPr>
          <p:nvPr>
            <p:ph idx="1"/>
          </p:nvPr>
        </p:nvSpPr>
        <p:spPr>
          <a:xfrm>
            <a:off x="318356" y="-1"/>
            <a:ext cx="8507288" cy="6165304"/>
          </a:xfrm>
        </p:spPr>
        <p:txBody>
          <a:bodyPr>
            <a:normAutofit/>
          </a:bodyPr>
          <a:lstStyle/>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Random Forest is utilized to predict soil types due to its capability to handle large datasets and highlight feature importance.</a:t>
            </a:r>
          </a:p>
          <a:p>
            <a:pPr algn="just"/>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is applied to predict irrigation methods, leveraging its boosting techniques to achieve higher accuracy.</a:t>
            </a:r>
          </a:p>
          <a:p>
            <a:pPr algn="just"/>
            <a:r>
              <a:rPr lang="en-US" sz="2400" dirty="0">
                <a:latin typeface="Times New Roman" panose="02020603050405020304" pitchFamily="18" charset="0"/>
                <a:cs typeface="Times New Roman" panose="02020603050405020304" pitchFamily="18" charset="0"/>
              </a:rPr>
              <a:t>The system provides farmers with real-time, data-driven recommendations for efficient irrigation scheduling and soil management.</a:t>
            </a:r>
          </a:p>
          <a:p>
            <a:pPr algn="just"/>
            <a:r>
              <a:rPr lang="en-US" sz="2400" dirty="0">
                <a:latin typeface="Times New Roman" panose="02020603050405020304" pitchFamily="18" charset="0"/>
                <a:cs typeface="Times New Roman" panose="02020603050405020304" pitchFamily="18" charset="0"/>
              </a:rPr>
              <a:t>By reducing water wastage and enhancing crop productivity, the project contributes to precision agriculture and resource optimization.</a:t>
            </a:r>
          </a:p>
          <a:p>
            <a:pPr algn="just"/>
            <a:r>
              <a:rPr lang="en-US" sz="2400" dirty="0">
                <a:latin typeface="Times New Roman" panose="02020603050405020304" pitchFamily="18" charset="0"/>
                <a:cs typeface="Times New Roman" panose="02020603050405020304" pitchFamily="18" charset="0"/>
              </a:rPr>
              <a:t>Integrating predictive analytics into farming practices fosters sustainable agriculture, benefiting the environment and the agricultural ecosystem.</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FCAFF3A-F925-2B42-ECD0-BBE9EB8C19A7}"/>
              </a:ext>
            </a:extLst>
          </p:cNvPr>
          <p:cNvSpPr>
            <a:spLocks noGrp="1"/>
          </p:cNvSpPr>
          <p:nvPr>
            <p:ph type="sldNum" sz="quarter" idx="12"/>
          </p:nvPr>
        </p:nvSpPr>
        <p:spPr/>
        <p:txBody>
          <a:bodyPr/>
          <a:lstStyle/>
          <a:p>
            <a:fld id="{D478AB7C-A59F-4E19-97C4-632E957B8357}" type="slidenum">
              <a:rPr lang="en-US" smtClean="0"/>
              <a:t>6</a:t>
            </a:fld>
            <a:endParaRPr lang="en-US" dirty="0"/>
          </a:p>
        </p:txBody>
      </p:sp>
    </p:spTree>
    <p:extLst>
      <p:ext uri="{BB962C8B-B14F-4D97-AF65-F5344CB8AC3E}">
        <p14:creationId xmlns:p14="http://schemas.microsoft.com/office/powerpoint/2010/main" val="1908165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548680"/>
            <a:ext cx="8496944" cy="5000660"/>
          </a:xfrm>
        </p:spPr>
        <p:txBody>
          <a:bodyPr>
            <a:noAutofit/>
          </a:bodyPr>
          <a:lstStyle/>
          <a:p>
            <a:pPr algn="just">
              <a:buNone/>
            </a:pPr>
            <a:r>
              <a:rPr lang="en-IN" sz="2400" b="1" dirty="0">
                <a:latin typeface="Times New Roman" panose="02020603050405020304" pitchFamily="18" charset="0"/>
                <a:cs typeface="Times New Roman" panose="02020603050405020304" pitchFamily="18" charset="0"/>
              </a:rPr>
              <a:t>EXISTING SYSTEM:</a:t>
            </a:r>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Traditional farming practices often rely on manual observation and historical knowledge to determine soil types and irrigation methods, which can lead to inefficiencies and inaccuracies.</a:t>
            </a:r>
          </a:p>
          <a:p>
            <a:pPr algn="just"/>
            <a:r>
              <a:rPr lang="en-US" sz="2200" dirty="0">
                <a:latin typeface="Times New Roman" panose="02020603050405020304" pitchFamily="18" charset="0"/>
                <a:cs typeface="Times New Roman" panose="02020603050405020304" pitchFamily="18" charset="0"/>
              </a:rPr>
              <a:t>Current systems for soil classification and irrigation scheduling are generally time-consuming and lack real-time adaptability to changing environmental conditions.</a:t>
            </a:r>
          </a:p>
          <a:p>
            <a:pPr algn="just"/>
            <a:r>
              <a:rPr lang="en-US" sz="2200" dirty="0">
                <a:latin typeface="Times New Roman" panose="02020603050405020304" pitchFamily="18" charset="0"/>
                <a:cs typeface="Times New Roman" panose="02020603050405020304" pitchFamily="18" charset="0"/>
              </a:rPr>
              <a:t>Many existing approaches use basic statistical models or rule-based methods that fail to capture the complexity of interactions between soil nutrients, water availability, and crop types.</a:t>
            </a:r>
          </a:p>
          <a:p>
            <a:pPr algn="just"/>
            <a:r>
              <a:rPr lang="en-US" sz="2200" dirty="0">
                <a:latin typeface="Times New Roman" panose="02020603050405020304" pitchFamily="18" charset="0"/>
                <a:cs typeface="Times New Roman" panose="02020603050405020304" pitchFamily="18" charset="0"/>
              </a:rPr>
              <a:t>Farmers often face challenges in accessing advanced tools for precise resource management, leading to over-irrigation, water wastage, and suboptimal crop yields.</a:t>
            </a:r>
          </a:p>
          <a:p>
            <a:pPr algn="just"/>
            <a:r>
              <a:rPr lang="en-US" sz="2200" dirty="0">
                <a:latin typeface="Times New Roman" panose="02020603050405020304" pitchFamily="18" charset="0"/>
                <a:cs typeface="Times New Roman" panose="02020603050405020304" pitchFamily="18" charset="0"/>
              </a:rPr>
              <a:t>The absence of robust predictive systems limits the ability to implement precision agriculture practices, hindering sustainable farming and resource conservation efforts</a:t>
            </a:r>
            <a:r>
              <a:rPr lang="en-IN" sz="2200" dirty="0">
                <a:latin typeface="Times New Roman" panose="02020603050405020304" pitchFamily="18" charset="0"/>
                <a:cs typeface="Times New Roman" panose="02020603050405020304" pitchFamily="18" charset="0"/>
              </a:rPr>
              <a:t>.</a:t>
            </a:r>
            <a:endParaRPr lang="en-IN" sz="2200" b="1" dirty="0">
              <a:latin typeface="Times New Roman" panose="02020603050405020304" pitchFamily="18" charset="0"/>
              <a:cs typeface="Times New Roman" panose="02020603050405020304" pitchFamily="18" charset="0"/>
            </a:endParaRPr>
          </a:p>
          <a:p>
            <a:pPr algn="just">
              <a:buNone/>
            </a:pPr>
            <a:endParaRPr lang="en-IN" sz="20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478AB7C-A59F-4E19-97C4-632E957B8357}" type="slidenum">
              <a:rPr lang="en-US" smtClean="0"/>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0891A7C-A761-33B9-F6B1-849FDD12C060}"/>
              </a:ext>
            </a:extLst>
          </p:cNvPr>
          <p:cNvSpPr>
            <a:spLocks noGrp="1"/>
          </p:cNvSpPr>
          <p:nvPr>
            <p:ph type="sldNum" sz="quarter" idx="12"/>
          </p:nvPr>
        </p:nvSpPr>
        <p:spPr/>
        <p:txBody>
          <a:bodyPr/>
          <a:lstStyle/>
          <a:p>
            <a:fld id="{D478AB7C-A59F-4E19-97C4-632E957B8357}" type="slidenum">
              <a:rPr lang="en-US" smtClean="0"/>
              <a:t>8</a:t>
            </a:fld>
            <a:endParaRPr lang="en-US" dirty="0"/>
          </a:p>
        </p:txBody>
      </p:sp>
      <p:sp>
        <p:nvSpPr>
          <p:cNvPr id="6" name="TextBox 5">
            <a:extLst>
              <a:ext uri="{FF2B5EF4-FFF2-40B4-BE49-F238E27FC236}">
                <a16:creationId xmlns:a16="http://schemas.microsoft.com/office/drawing/2014/main" id="{0E243D96-8F53-5978-1A92-A7E951679924}"/>
              </a:ext>
            </a:extLst>
          </p:cNvPr>
          <p:cNvSpPr txBox="1"/>
          <p:nvPr/>
        </p:nvSpPr>
        <p:spPr>
          <a:xfrm>
            <a:off x="310952" y="428178"/>
            <a:ext cx="8522096" cy="6097823"/>
          </a:xfrm>
          <a:prstGeom prst="rect">
            <a:avLst/>
          </a:prstGeom>
          <a:noFill/>
        </p:spPr>
        <p:txBody>
          <a:bodyPr wrap="square">
            <a:spAutoFit/>
          </a:bodyPr>
          <a:lstStyle/>
          <a:p>
            <a:pPr algn="just">
              <a:buNone/>
            </a:pPr>
            <a:r>
              <a:rPr lang="en-IN" sz="2400" b="1" dirty="0">
                <a:latin typeface="Times New Roman" panose="02020603050405020304" pitchFamily="18" charset="0"/>
                <a:cs typeface="Times New Roman" panose="02020603050405020304" pitchFamily="18" charset="0"/>
              </a:rPr>
              <a:t>DRAWBACKS:</a:t>
            </a:r>
          </a:p>
          <a:p>
            <a:pPr marL="342900" lvl="0" indent="-342900" algn="just">
              <a:lnSpc>
                <a:spcPct val="150000"/>
              </a:lnSpc>
              <a:buFont typeface="Symbol" panose="05050102010706020507" pitchFamily="18" charset="2"/>
              <a:buChar char=""/>
            </a:pPr>
            <a:r>
              <a:rPr lang="en-US" sz="2400" dirty="0">
                <a:effectLst/>
                <a:latin typeface="Times New Roman" panose="02020603050405020304" pitchFamily="18" charset="0"/>
                <a:ea typeface="Times New Roman" panose="02020603050405020304" pitchFamily="18" charset="0"/>
              </a:rPr>
              <a:t>Relies heavily on manual observation, leading to inaccuracies and inefficiencies.</a:t>
            </a:r>
          </a:p>
          <a:p>
            <a:pPr marL="342900" lvl="0" indent="-342900" algn="just">
              <a:lnSpc>
                <a:spcPct val="150000"/>
              </a:lnSpc>
              <a:buFont typeface="Symbol" panose="05050102010706020507" pitchFamily="18" charset="2"/>
              <a:buChar char=""/>
            </a:pPr>
            <a:r>
              <a:rPr lang="en-US" sz="2400" dirty="0">
                <a:effectLst/>
                <a:latin typeface="Times New Roman" panose="02020603050405020304" pitchFamily="18" charset="0"/>
                <a:ea typeface="Times New Roman" panose="02020603050405020304" pitchFamily="18" charset="0"/>
              </a:rPr>
              <a:t>Lacks real-time adaptability to dynamic environmental conditions.</a:t>
            </a:r>
          </a:p>
          <a:p>
            <a:pPr marL="342900" lvl="0" indent="-342900" algn="just">
              <a:lnSpc>
                <a:spcPct val="150000"/>
              </a:lnSpc>
              <a:buFont typeface="Symbol" panose="05050102010706020507" pitchFamily="18" charset="2"/>
              <a:buChar char=""/>
            </a:pPr>
            <a:r>
              <a:rPr lang="en-US" sz="2400" dirty="0">
                <a:effectLst/>
                <a:latin typeface="Times New Roman" panose="02020603050405020304" pitchFamily="18" charset="0"/>
                <a:ea typeface="Times New Roman" panose="02020603050405020304" pitchFamily="18" charset="0"/>
              </a:rPr>
              <a:t>Fails to capture complex interactions between agricultural factors like soil nutrients and water availability.</a:t>
            </a:r>
          </a:p>
          <a:p>
            <a:pPr marL="342900" lvl="0" indent="-342900" algn="just">
              <a:lnSpc>
                <a:spcPct val="150000"/>
              </a:lnSpc>
              <a:buFont typeface="Symbol" panose="05050102010706020507" pitchFamily="18" charset="2"/>
              <a:buChar char=""/>
            </a:pPr>
            <a:r>
              <a:rPr lang="en-US" sz="2400" dirty="0">
                <a:effectLst/>
                <a:latin typeface="Times New Roman" panose="02020603050405020304" pitchFamily="18" charset="0"/>
                <a:ea typeface="Times New Roman" panose="02020603050405020304" pitchFamily="18" charset="0"/>
              </a:rPr>
              <a:t>Results in over-irrigation, water wastage, and suboptimal crop yields due to imprecise resource management.</a:t>
            </a:r>
          </a:p>
          <a:p>
            <a:pPr marL="342900" lvl="0" indent="-342900" algn="just">
              <a:lnSpc>
                <a:spcPct val="150000"/>
              </a:lnSpc>
              <a:buFont typeface="Symbol" panose="05050102010706020507" pitchFamily="18" charset="2"/>
              <a:buChar char=""/>
            </a:pPr>
            <a:r>
              <a:rPr lang="en-US" sz="2400" dirty="0">
                <a:effectLst/>
                <a:latin typeface="Times New Roman" panose="02020603050405020304" pitchFamily="18" charset="0"/>
                <a:ea typeface="Times New Roman" panose="02020603050405020304" pitchFamily="18" charset="0"/>
              </a:rPr>
              <a:t>Limits the adoption of precision agriculture, hindering sustainability and resource optimization.</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0296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1944" y="548680"/>
            <a:ext cx="8682544" cy="4786346"/>
          </a:xfrm>
        </p:spPr>
        <p:txBody>
          <a:bodyPr>
            <a:noAutofit/>
          </a:bodyPr>
          <a:lstStyle/>
          <a:p>
            <a:pPr algn="just">
              <a:buNone/>
            </a:pPr>
            <a:r>
              <a:rPr lang="en-IN" sz="2400" b="1" dirty="0">
                <a:latin typeface="Times New Roman" panose="02020603050405020304" pitchFamily="18" charset="0"/>
                <a:cs typeface="Times New Roman" panose="02020603050405020304" pitchFamily="18" charset="0"/>
              </a:rPr>
              <a:t>PROPOSED SYSTEM:</a:t>
            </a:r>
          </a:p>
          <a:p>
            <a:pPr algn="just"/>
            <a:r>
              <a:rPr lang="en-US" sz="2300" dirty="0">
                <a:latin typeface="Times New Roman" panose="02020603050405020304" pitchFamily="18" charset="0"/>
                <a:cs typeface="Times New Roman" panose="02020603050405020304" pitchFamily="18" charset="0"/>
              </a:rPr>
              <a:t>The proposed system leverages machine learning algorithms to accurately predict soil types and recommend optimal irrigation methods based on key agricultural factors.</a:t>
            </a:r>
          </a:p>
          <a:p>
            <a:pPr algn="just"/>
            <a:r>
              <a:rPr lang="en-US" sz="2300" dirty="0">
                <a:latin typeface="Times New Roman" panose="02020603050405020304" pitchFamily="18" charset="0"/>
                <a:cs typeface="Times New Roman" panose="02020603050405020304" pitchFamily="18" charset="0"/>
              </a:rPr>
              <a:t>Random Forest is employed for soil type prediction, utilizing its ability to handle large datasets and provide feature importance for better decision-making.</a:t>
            </a:r>
          </a:p>
          <a:p>
            <a:pPr algn="just"/>
            <a:r>
              <a:rPr lang="en-US" sz="2300" dirty="0" err="1">
                <a:latin typeface="Times New Roman" panose="02020603050405020304" pitchFamily="18" charset="0"/>
                <a:cs typeface="Times New Roman" panose="02020603050405020304" pitchFamily="18" charset="0"/>
              </a:rPr>
              <a:t>XGBoost</a:t>
            </a:r>
            <a:r>
              <a:rPr lang="en-US" sz="2300" dirty="0">
                <a:latin typeface="Times New Roman" panose="02020603050405020304" pitchFamily="18" charset="0"/>
                <a:cs typeface="Times New Roman" panose="02020603050405020304" pitchFamily="18" charset="0"/>
              </a:rPr>
              <a:t> is used for irrigation method prediction, ensuring high accuracy through advanced boosting techniques and efficient processing.</a:t>
            </a:r>
          </a:p>
          <a:p>
            <a:pPr algn="just"/>
            <a:r>
              <a:rPr lang="en-US" sz="2300" dirty="0">
                <a:latin typeface="Times New Roman" panose="02020603050405020304" pitchFamily="18" charset="0"/>
                <a:cs typeface="Times New Roman" panose="02020603050405020304" pitchFamily="18" charset="0"/>
              </a:rPr>
              <a:t>The system offers real-time, data-driven insights, enabling farmers to make informed decisions on resource allocation and irrigation scheduling.</a:t>
            </a:r>
          </a:p>
          <a:p>
            <a:pPr algn="just"/>
            <a:r>
              <a:rPr lang="en-US" sz="2300" dirty="0">
                <a:latin typeface="Times New Roman" panose="02020603050405020304" pitchFamily="18" charset="0"/>
                <a:cs typeface="Times New Roman" panose="02020603050405020304" pitchFamily="18" charset="0"/>
              </a:rPr>
              <a:t>By integrating predictive analytics, the system promotes precision agriculture, reducing water wastage, enhancing crop yields, and supporting sustainable farming practices.</a:t>
            </a:r>
          </a:p>
        </p:txBody>
      </p:sp>
      <p:sp>
        <p:nvSpPr>
          <p:cNvPr id="4" name="Slide Number Placeholder 3"/>
          <p:cNvSpPr>
            <a:spLocks noGrp="1"/>
          </p:cNvSpPr>
          <p:nvPr>
            <p:ph type="sldNum" sz="quarter" idx="12"/>
          </p:nvPr>
        </p:nvSpPr>
        <p:spPr/>
        <p:txBody>
          <a:bodyPr/>
          <a:lstStyle/>
          <a:p>
            <a:fld id="{D478AB7C-A59F-4E19-97C4-632E957B8357}" type="slidenum">
              <a:rPr lang="en-US" smtClean="0"/>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9B224-3D73-0D35-BF4E-72074ABBDE6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463B18-F0E7-17C5-0AAD-2773DFE4B881}"/>
              </a:ext>
            </a:extLst>
          </p:cNvPr>
          <p:cNvSpPr>
            <a:spLocks noGrp="1"/>
          </p:cNvSpPr>
          <p:nvPr>
            <p:ph idx="1"/>
          </p:nvPr>
        </p:nvSpPr>
        <p:spPr>
          <a:xfrm>
            <a:off x="251520" y="260648"/>
            <a:ext cx="8229600" cy="4786346"/>
          </a:xfrm>
        </p:spPr>
        <p:txBody>
          <a:bodyPr>
            <a:noAutofit/>
          </a:bodyPr>
          <a:lstStyle/>
          <a:p>
            <a:pPr algn="just">
              <a:buNone/>
            </a:pPr>
            <a:r>
              <a:rPr lang="en-IN" sz="2400" b="1" dirty="0">
                <a:latin typeface="Times New Roman" panose="02020603050405020304" pitchFamily="18" charset="0"/>
                <a:cs typeface="Times New Roman" panose="02020603050405020304" pitchFamily="18" charset="0"/>
              </a:rPr>
              <a:t>ADVANTAGES:</a:t>
            </a:r>
          </a:p>
          <a:p>
            <a:pPr marL="342900" lvl="0" indent="-342900" algn="just">
              <a:lnSpc>
                <a:spcPct val="150000"/>
              </a:lnSpc>
              <a:buFont typeface="Symbol" panose="05050102010706020507" pitchFamily="18" charset="2"/>
              <a:buChar char=""/>
            </a:pPr>
            <a:r>
              <a:rPr lang="en-US" sz="2400" dirty="0">
                <a:effectLst/>
                <a:latin typeface="Times New Roman" panose="02020603050405020304" pitchFamily="18" charset="0"/>
                <a:ea typeface="Times New Roman" panose="02020603050405020304" pitchFamily="18" charset="0"/>
              </a:rPr>
              <a:t>Provides accurate predictions for soil types and irrigation methods using advanced machine learning algorithms.</a:t>
            </a:r>
          </a:p>
          <a:p>
            <a:pPr marL="342900" lvl="0" indent="-342900" algn="just">
              <a:lnSpc>
                <a:spcPct val="150000"/>
              </a:lnSpc>
              <a:buFont typeface="Symbol" panose="05050102010706020507" pitchFamily="18" charset="2"/>
              <a:buChar char=""/>
            </a:pPr>
            <a:r>
              <a:rPr lang="en-US" sz="2400" dirty="0">
                <a:effectLst/>
                <a:latin typeface="Times New Roman" panose="02020603050405020304" pitchFamily="18" charset="0"/>
                <a:ea typeface="Times New Roman" panose="02020603050405020304" pitchFamily="18" charset="0"/>
              </a:rPr>
              <a:t>Enables real-time, data-driven decision-making for efficient resource management.</a:t>
            </a:r>
          </a:p>
          <a:p>
            <a:pPr marL="342900" lvl="0" indent="-342900" algn="just">
              <a:lnSpc>
                <a:spcPct val="150000"/>
              </a:lnSpc>
              <a:buFont typeface="Symbol" panose="05050102010706020507" pitchFamily="18" charset="2"/>
              <a:buChar char=""/>
            </a:pPr>
            <a:r>
              <a:rPr lang="en-US" sz="2400" dirty="0">
                <a:effectLst/>
                <a:latin typeface="Times New Roman" panose="02020603050405020304" pitchFamily="18" charset="0"/>
                <a:ea typeface="Times New Roman" panose="02020603050405020304" pitchFamily="18" charset="0"/>
              </a:rPr>
              <a:t>Reduces water wastage and enhances crop productivity through optimized irrigation.</a:t>
            </a:r>
          </a:p>
          <a:p>
            <a:pPr marL="342900" lvl="0" indent="-342900" algn="just">
              <a:lnSpc>
                <a:spcPct val="150000"/>
              </a:lnSpc>
              <a:buFont typeface="Symbol" panose="05050102010706020507" pitchFamily="18" charset="2"/>
              <a:buChar char=""/>
            </a:pPr>
            <a:r>
              <a:rPr lang="en-US" sz="2400" dirty="0">
                <a:effectLst/>
                <a:latin typeface="Times New Roman" panose="02020603050405020304" pitchFamily="18" charset="0"/>
                <a:ea typeface="Times New Roman" panose="02020603050405020304" pitchFamily="18" charset="0"/>
              </a:rPr>
              <a:t>Promotes sustainable farming practices by minimizing environmental impact.</a:t>
            </a:r>
          </a:p>
          <a:p>
            <a:pPr marL="342900" lvl="0" indent="-342900" algn="just">
              <a:lnSpc>
                <a:spcPct val="150000"/>
              </a:lnSpc>
              <a:buFont typeface="Symbol" panose="05050102010706020507" pitchFamily="18" charset="2"/>
              <a:buChar char=""/>
            </a:pPr>
            <a:r>
              <a:rPr lang="en-US" sz="2400" dirty="0">
                <a:effectLst/>
                <a:latin typeface="Times New Roman" panose="02020603050405020304" pitchFamily="18" charset="0"/>
                <a:ea typeface="Times New Roman" panose="02020603050405020304" pitchFamily="18" charset="0"/>
              </a:rPr>
              <a:t>Facilitates the adoption of precision agriculture, improving overall agricultural efficiency and sustainability</a:t>
            </a:r>
            <a:r>
              <a:rPr lang="en-US" dirty="0">
                <a:latin typeface="Times New Roman" panose="02020603050405020304" pitchFamily="18"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8B38CF33-3802-391C-3E55-9F06955E2408}"/>
              </a:ext>
            </a:extLst>
          </p:cNvPr>
          <p:cNvSpPr>
            <a:spLocks noGrp="1"/>
          </p:cNvSpPr>
          <p:nvPr>
            <p:ph type="sldNum" sz="quarter" idx="12"/>
          </p:nvPr>
        </p:nvSpPr>
        <p:spPr/>
        <p:txBody>
          <a:bodyPr/>
          <a:lstStyle/>
          <a:p>
            <a:fld id="{D478AB7C-A59F-4E19-97C4-632E957B8357}" type="slidenum">
              <a:rPr lang="en-US" smtClean="0"/>
              <a:t>10</a:t>
            </a:fld>
            <a:endParaRPr lang="en-US" dirty="0"/>
          </a:p>
        </p:txBody>
      </p:sp>
    </p:spTree>
    <p:extLst>
      <p:ext uri="{BB962C8B-B14F-4D97-AF65-F5344CB8AC3E}">
        <p14:creationId xmlns:p14="http://schemas.microsoft.com/office/powerpoint/2010/main" val="2642415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99392"/>
            <a:ext cx="8229600" cy="1143000"/>
          </a:xfrm>
        </p:spPr>
        <p:txBody>
          <a:bodyPr>
            <a:normAutofit/>
          </a:bodyPr>
          <a:lstStyle/>
          <a:p>
            <a:r>
              <a:rPr lang="en-IN" sz="2800" b="1" dirty="0">
                <a:latin typeface="Times New Roman" panose="02020603050405020304" pitchFamily="18" charset="0"/>
                <a:cs typeface="Times New Roman" panose="02020603050405020304" pitchFamily="18" charset="0"/>
              </a:rPr>
              <a:t>ARCHITECTURE </a:t>
            </a:r>
            <a:endParaRPr lang="en-US" sz="2800" b="1" dirty="0">
              <a:latin typeface="Times New Roman" panose="02020603050405020304" pitchFamily="18" charset="0"/>
              <a:cs typeface="Times New Roman" panose="02020603050405020304" pitchFamily="18" charset="0"/>
            </a:endParaRPr>
          </a:p>
        </p:txBody>
      </p:sp>
      <p:sp>
        <p:nvSpPr>
          <p:cNvPr id="30" name="Slide Number Placeholder 29"/>
          <p:cNvSpPr>
            <a:spLocks noGrp="1"/>
          </p:cNvSpPr>
          <p:nvPr>
            <p:ph type="sldNum" sz="quarter" idx="12"/>
          </p:nvPr>
        </p:nvSpPr>
        <p:spPr/>
        <p:txBody>
          <a:bodyPr/>
          <a:lstStyle/>
          <a:p>
            <a:fld id="{D478AB7C-A59F-4E19-97C4-632E957B8357}" type="slidenum">
              <a:rPr lang="en-US" smtClean="0"/>
              <a:t>11</a:t>
            </a:fld>
            <a:endParaRPr lang="en-US" dirty="0"/>
          </a:p>
        </p:txBody>
      </p:sp>
      <p:pic>
        <p:nvPicPr>
          <p:cNvPr id="1026" name="Picture 2" descr="Internet of Things and Machine Learning Applications for Smart Precision  Agriculture | IntechOpen">
            <a:extLst>
              <a:ext uri="{FF2B5EF4-FFF2-40B4-BE49-F238E27FC236}">
                <a16:creationId xmlns:a16="http://schemas.microsoft.com/office/drawing/2014/main" id="{01F0A9C9-F48D-C10E-B1DE-D10AD84B67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7363" y="809625"/>
            <a:ext cx="5629275" cy="5238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CONCLUSION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417638"/>
            <a:ext cx="8229600" cy="4525963"/>
          </a:xfrm>
        </p:spPr>
        <p:txBody>
          <a:bodyPr>
            <a:normAutofit/>
          </a:bodyPr>
          <a:lstStyle/>
          <a:p>
            <a:pPr algn="just">
              <a:buNone/>
            </a:pP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 proposed system revolutionizes agriculture by leveraging machine learning to predict soil types and optimize irrigation methods. By utilizing Random Forest and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algorithms, it provides accurate, real-time insights that enhance resource efficiency and support sustainable farming. This approach reduces water wastage, boosts crop yields, and minimizes environmental impact, promoting precision agriculture. By integrating predictive analytics into farming practices, the system empowers farmers to make informed decisions, ultimately fostering a more sustainable and efficient agricultural ecosystem for the future.</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478AB7C-A59F-4E19-97C4-632E957B8357}" type="slidenum">
              <a:rPr lang="en-US" smtClean="0"/>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FUTURE ENHANCEMENT</a:t>
            </a:r>
            <a:endParaRPr lang="en-US" sz="2800" b="1" dirty="0"/>
          </a:p>
        </p:txBody>
      </p:sp>
      <p:sp>
        <p:nvSpPr>
          <p:cNvPr id="3" name="Content Placeholder 2"/>
          <p:cNvSpPr>
            <a:spLocks noGrp="1"/>
          </p:cNvSpPr>
          <p:nvPr>
            <p:ph idx="1"/>
          </p:nvPr>
        </p:nvSpPr>
        <p:spPr>
          <a:xfrm>
            <a:off x="323528" y="1268760"/>
            <a:ext cx="8229600" cy="4525963"/>
          </a:xfrm>
        </p:spPr>
        <p:txBody>
          <a:bodyPr>
            <a:normAutofit/>
          </a:bodyPr>
          <a:lstStyle/>
          <a:p>
            <a:pPr algn="just">
              <a:buNone/>
            </a:pP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Future enhancements include integrating IoT devices for real-time data collection, expanding the system to predict additional agricultural factors like pest infestations and crop diseases, and incorporating satellite imagery for large-scale analysis. Advanced deep learning models can also be explored to further improve prediction accuracy and enable fully automated precision farming solutions.</a:t>
            </a:r>
          </a:p>
        </p:txBody>
      </p:sp>
      <p:sp>
        <p:nvSpPr>
          <p:cNvPr id="4" name="Slide Number Placeholder 3"/>
          <p:cNvSpPr>
            <a:spLocks noGrp="1"/>
          </p:cNvSpPr>
          <p:nvPr>
            <p:ph type="sldNum" sz="quarter" idx="12"/>
          </p:nvPr>
        </p:nvSpPr>
        <p:spPr/>
        <p:txBody>
          <a:bodyPr/>
          <a:lstStyle/>
          <a:p>
            <a:fld id="{D478AB7C-A59F-4E19-97C4-632E957B8357}" type="slidenum">
              <a:rPr lang="en-US" smtClean="0"/>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286412"/>
          </a:xfrm>
        </p:spPr>
        <p:txBody>
          <a:bodyPr>
            <a:normAutofit/>
          </a:bodyPr>
          <a:lstStyle/>
          <a:p>
            <a:pPr algn="ctr">
              <a:buNone/>
            </a:pPr>
            <a:endParaRPr lang="en-IN" sz="5400" b="1" i="1" dirty="0">
              <a:solidFill>
                <a:schemeClr val="accent4">
                  <a:lumMod val="75000"/>
                </a:schemeClr>
              </a:solidFill>
              <a:latin typeface="Times New Roman" panose="02020603050405020304" pitchFamily="18" charset="0"/>
              <a:cs typeface="Times New Roman" panose="02020603050405020304" pitchFamily="18" charset="0"/>
            </a:endParaRPr>
          </a:p>
          <a:p>
            <a:pPr algn="ctr">
              <a:buNone/>
            </a:pPr>
            <a:endParaRPr lang="en-IN" sz="5400" b="1" dirty="0">
              <a:solidFill>
                <a:schemeClr val="accent4">
                  <a:lumMod val="75000"/>
                </a:schemeClr>
              </a:solidFill>
              <a:latin typeface="+mj-lt"/>
              <a:cs typeface="Times New Roman" panose="02020603050405020304" pitchFamily="18" charset="0"/>
            </a:endParaRPr>
          </a:p>
          <a:p>
            <a:pPr algn="ctr">
              <a:buNone/>
            </a:pPr>
            <a:r>
              <a:rPr lang="en-IN" sz="4000" b="1" dirty="0">
                <a:latin typeface="Times New Roman" panose="02020603050405020304" pitchFamily="18" charset="0"/>
                <a:cs typeface="Times New Roman" panose="02020603050405020304" pitchFamily="18" charset="0"/>
              </a:rPr>
              <a:t>THANK YOU</a:t>
            </a:r>
          </a:p>
        </p:txBody>
      </p:sp>
      <p:sp>
        <p:nvSpPr>
          <p:cNvPr id="4" name="Slide Number Placeholder 3"/>
          <p:cNvSpPr>
            <a:spLocks noGrp="1"/>
          </p:cNvSpPr>
          <p:nvPr>
            <p:ph type="sldNum" sz="quarter" idx="12"/>
          </p:nvPr>
        </p:nvSpPr>
        <p:spPr/>
        <p:txBody>
          <a:bodyPr/>
          <a:lstStyle/>
          <a:p>
            <a:fld id="{D478AB7C-A59F-4E19-97C4-632E957B8357}" type="slidenum">
              <a:rPr lang="en-US" smtClean="0"/>
              <a:t>14</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Civic</Template>
  <TotalTime>281</TotalTime>
  <Words>1077</Words>
  <Application>Microsoft Office PowerPoint</Application>
  <PresentationFormat>On-screen Show (4:3)</PresentationFormat>
  <Paragraphs>75</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Symbol</vt:lpstr>
      <vt:lpstr>Times New Roman</vt:lpstr>
      <vt:lpstr>Office Theme</vt:lpstr>
      <vt:lpstr>  SMART AGRICULTURE: PREDICTING SOIL TYPE AND IRRIGATION METHODS WITH MACHINE LEARNING        BATCH No : 07 UNDER THE ESTEEMED GUIDANCE OF Ms. P. VASANTHA KUMARI                     DEPARTMENT OF COMPUTER SCIENCE AND ENGINEERING    SRI VENKATESWARA ENGINEERING COLLEGE FOR WOMEN        Karakambadi Road, Opp. LIC Training Center,      Tirupati-517507   </vt:lpstr>
      <vt:lpstr>PowerPoint Presentation</vt:lpstr>
      <vt:lpstr>CONTENTS</vt:lpstr>
      <vt:lpstr>ABSTRACT</vt:lpstr>
      <vt:lpstr>INTRODUCTION</vt:lpstr>
      <vt:lpstr>PowerPoint Presentation</vt:lpstr>
      <vt:lpstr>PowerPoint Presentation</vt:lpstr>
      <vt:lpstr>PowerPoint Presentation</vt:lpstr>
      <vt:lpstr>PowerPoint Presentation</vt:lpstr>
      <vt:lpstr>PowerPoint Presentation</vt:lpstr>
      <vt:lpstr>ARCHITECTURE </vt:lpstr>
      <vt:lpstr>CONCLUSION</vt:lpstr>
      <vt:lpstr>FUTURE ENHANCEMENT</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 Disease Detection Using CNN Classification Technique</dc:title>
  <dc:creator>HP</dc:creator>
  <cp:lastModifiedBy>Nulu Varsha</cp:lastModifiedBy>
  <cp:revision>274</cp:revision>
  <dcterms:created xsi:type="dcterms:W3CDTF">2020-01-20T12:28:00Z</dcterms:created>
  <dcterms:modified xsi:type="dcterms:W3CDTF">2025-01-17T03:45:10Z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23CEE216086D4C5ABBD29BF49770A89D_12</vt:lpwstr>
  </property>
  <property fmtid="{D5CDD505-2E9C-101B-9397-08002B2CF9AE}" pid="3" name="KSOProductBuildVer">
    <vt:lpwstr>1033-12.2.0.19805</vt:lpwstr>
  </property>
</Properties>
</file>